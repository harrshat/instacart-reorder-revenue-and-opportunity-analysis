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79296c58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79296c58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79296c58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79296c58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79296c58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79296c58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79296c58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79296c58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79296c58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79296c58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9F1E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609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003E29"/>
                </a:solidFill>
              </a:rPr>
              <a:t>Reorder &amp; Revenue Opportunity Analysis</a:t>
            </a:r>
            <a:endParaRPr>
              <a:solidFill>
                <a:srgbClr val="003E2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681675"/>
            <a:ext cx="85206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3E29"/>
                </a:solidFill>
              </a:rPr>
              <a:t>206,209 customers, 3.2M+ orders</a:t>
            </a:r>
            <a:endParaRPr i="1">
              <a:solidFill>
                <a:srgbClr val="003E2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93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Instacart is a grocery delivery marketplace. Its revenue model depends on order frequency — the more often customers reorder, the more Instacart earns per customer over time. The growth team has noticed that a large share of customers who placed their first order never place a second one, and among those who do reorder, a meaningful portion go quiet after a few orders.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2" name="Google Shape;62;p14"/>
          <p:cNvSpPr/>
          <p:nvPr/>
        </p:nvSpPr>
        <p:spPr>
          <a:xfrm>
            <a:off x="0" y="0"/>
            <a:ext cx="9159300" cy="716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    </a:t>
            </a:r>
            <a:r>
              <a:rPr b="1" lang="en" sz="1800">
                <a:solidFill>
                  <a:schemeClr val="lt1"/>
                </a:solidFill>
              </a:rPr>
              <a:t>PROBLEM STATEMENT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4800600" y="2113274"/>
            <a:ext cx="3886200" cy="181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800600" y="2113274"/>
            <a:ext cx="109800" cy="1816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5001768" y="2270222"/>
            <a:ext cx="3566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02  REVENUE OPPORTUNITY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001775" y="2392675"/>
            <a:ext cx="35661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behaviors in orders 1–4 separate high-value customers from at-risk ones — and how large is the gap between them?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533400" y="2113274"/>
            <a:ext cx="3886200" cy="181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533400" y="2113274"/>
            <a:ext cx="109800" cy="1816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34568" y="2270222"/>
            <a:ext cx="3566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lang="en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01 FUNNEL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734568" y="2595329"/>
            <a:ext cx="35661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At which step in the reorder journey are we losing the most customers, and which product categories show the highest drop-off?</a:t>
            </a:r>
            <a:endParaRPr sz="125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6309360" y="1371603"/>
            <a:ext cx="2514600" cy="1234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139675" y="742863"/>
            <a:ext cx="5844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steepest single-step drop-off is at Order 4 → 5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0" y="0"/>
            <a:ext cx="9159300" cy="716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     REORDER FUNNEL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309360" y="2852928"/>
            <a:ext cx="2514600" cy="1234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6309360" y="2944368"/>
            <a:ext cx="2514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21.13%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6309360" y="3493008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of all users lost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by Order 5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309360" y="1371600"/>
            <a:ext cx="2514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11.63%</a:t>
            </a:r>
            <a:endParaRPr b="0" i="0" sz="380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6309360" y="2011680"/>
            <a:ext cx="251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drop-off at Order 4 → 5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largest single step </a:t>
            </a:r>
            <a:r>
              <a:rPr lang="en" sz="11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drop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" y="1219863"/>
            <a:ext cx="5852568" cy="3618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139675" y="742863"/>
            <a:ext cx="5844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This is a frequency problem, not a basket size problem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0" y="0"/>
            <a:ext cx="9159300" cy="716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  REVENUE GAP  ·  CUSTOMER SEGMENTS</a:t>
            </a:r>
            <a:endParaRPr b="1" sz="1800">
              <a:solidFill>
                <a:schemeClr val="lt1"/>
              </a:solidFill>
            </a:endParaRPr>
          </a:p>
        </p:txBody>
      </p:sp>
      <p:grpSp>
        <p:nvGrpSpPr>
          <p:cNvPr id="90" name="Google Shape;90;p16"/>
          <p:cNvGrpSpPr/>
          <p:nvPr/>
        </p:nvGrpSpPr>
        <p:grpSpPr>
          <a:xfrm>
            <a:off x="190500" y="1632323"/>
            <a:ext cx="2423100" cy="2331600"/>
            <a:chOff x="457200" y="1298448"/>
            <a:chExt cx="2423100" cy="2331600"/>
          </a:xfrm>
        </p:grpSpPr>
        <p:sp>
          <p:nvSpPr>
            <p:cNvPr id="91" name="Google Shape;91;p16"/>
            <p:cNvSpPr/>
            <p:nvPr/>
          </p:nvSpPr>
          <p:spPr>
            <a:xfrm>
              <a:off x="457200" y="1298448"/>
              <a:ext cx="2423100" cy="2331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457200" y="1463040"/>
              <a:ext cx="2423100" cy="1005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EEAD4"/>
                </a:buClr>
                <a:buSzPts val="5600"/>
                <a:buFont typeface="Calibri"/>
                <a:buNone/>
              </a:pPr>
              <a:r>
                <a:rPr b="1" i="0" lang="en" sz="5600" u="none" cap="none" strike="noStrike">
                  <a:solidFill>
                    <a:srgbClr val="0BAF0A"/>
                  </a:solidFill>
                  <a:latin typeface="Calibri"/>
                  <a:ea typeface="Calibri"/>
                  <a:cs typeface="Calibri"/>
                  <a:sym typeface="Calibri"/>
                </a:rPr>
                <a:t>2.7×</a:t>
              </a:r>
              <a:endParaRPr b="0" i="0" sz="5600" u="none" cap="none" strike="noStrike">
                <a:solidFill>
                  <a:srgbClr val="0BAF0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457200" y="2450592"/>
              <a:ext cx="2423100" cy="7773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lang="en" sz="15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" sz="15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evenue proxy gap</a:t>
              </a:r>
              <a:endPara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0" i="0" lang="en" sz="150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High-Value vs At-Risk</a:t>
              </a:r>
              <a:endPara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4" name="Google Shape;94;p1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750" y="1246350"/>
            <a:ext cx="2870199" cy="27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8100" y="1219875"/>
            <a:ext cx="3068250" cy="271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304800" y="481330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High-Value n=45,407 (22%)  ·  At-Risk n=116,662 (57%)  ·  Neither n=44,140 (21%)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71800" y="4096900"/>
            <a:ext cx="85446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lang="en" sz="12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Both segments buy the same amount per order (median 8 items). High-Value customers order every 7 days vs every 19 days for At-Risk. Interventions should target reorder timing — not </a:t>
            </a:r>
            <a:r>
              <a:rPr lang="en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cart </a:t>
            </a:r>
            <a:r>
              <a:rPr lang="en" sz="12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size.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t/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7"/>
          <p:cNvGrpSpPr/>
          <p:nvPr/>
        </p:nvGrpSpPr>
        <p:grpSpPr>
          <a:xfrm>
            <a:off x="6027420" y="1217385"/>
            <a:ext cx="2880425" cy="3200400"/>
            <a:chOff x="5989320" y="1298448"/>
            <a:chExt cx="2880425" cy="3200400"/>
          </a:xfrm>
        </p:grpSpPr>
        <p:sp>
          <p:nvSpPr>
            <p:cNvPr id="103" name="Google Shape;103;p17"/>
            <p:cNvSpPr/>
            <p:nvPr/>
          </p:nvSpPr>
          <p:spPr>
            <a:xfrm>
              <a:off x="6035045" y="1298448"/>
              <a:ext cx="2834700" cy="32004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8F5E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5989320" y="1298448"/>
              <a:ext cx="109800" cy="3200400"/>
            </a:xfrm>
            <a:prstGeom prst="rect">
              <a:avLst/>
            </a:prstGeom>
            <a:solidFill>
              <a:srgbClr val="F59E0B"/>
            </a:solidFill>
            <a:ln cap="flat" cmpd="sng" w="127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6172200" y="1444752"/>
              <a:ext cx="2560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F4444"/>
                </a:buClr>
                <a:buSzPts val="900"/>
                <a:buFont typeface="Calibri"/>
                <a:buNone/>
              </a:pPr>
              <a:r>
                <a:rPr b="1" i="0" lang="en" sz="1200" u="none" cap="none" strike="noStrike">
                  <a:solidFill>
                    <a:srgbClr val="FF7108"/>
                  </a:solidFill>
                  <a:latin typeface="Calibri"/>
                  <a:ea typeface="Calibri"/>
                  <a:cs typeface="Calibri"/>
                  <a:sym typeface="Calibri"/>
                </a:rPr>
                <a:t>ACT HERE FIRST</a:t>
              </a:r>
              <a:endParaRPr b="0" i="0" sz="1200" u="none" cap="none" strike="noStrike">
                <a:solidFill>
                  <a:srgbClr val="FF710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6172200" y="1737360"/>
              <a:ext cx="2560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3A1F"/>
                </a:buClr>
                <a:buSzPts val="2800"/>
                <a:buFont typeface="Calibri"/>
                <a:buNone/>
              </a:pPr>
              <a:r>
                <a:rPr b="1" i="0" lang="en" sz="2800" u="none" cap="none" strike="noStrike">
                  <a:solidFill>
                    <a:srgbClr val="1B3A1F"/>
                  </a:solidFill>
                  <a:latin typeface="Calibri"/>
                  <a:ea typeface="Calibri"/>
                  <a:cs typeface="Calibri"/>
                  <a:sym typeface="Calibri"/>
                </a:rPr>
                <a:t>Personal Care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6172200" y="2221992"/>
              <a:ext cx="25602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F4444"/>
                </a:buClr>
                <a:buSzPts val="1300"/>
                <a:buFont typeface="Calibri"/>
                <a:buNone/>
              </a:pPr>
              <a:r>
                <a:rPr b="1" i="0" lang="en" sz="1300" u="none" cap="none" strike="noStrike">
                  <a:solidFill>
                    <a:srgbClr val="FF7108"/>
                  </a:solidFill>
                  <a:latin typeface="Calibri"/>
                  <a:ea typeface="Calibri"/>
                  <a:cs typeface="Calibri"/>
                  <a:sym typeface="Calibri"/>
                </a:rPr>
                <a:t>28.6% reorder rate</a:t>
              </a:r>
              <a:endParaRPr b="0" i="0" sz="1300" u="none" cap="none" strike="noStrike">
                <a:solidFill>
                  <a:srgbClr val="FF710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6172200" y="2606040"/>
              <a:ext cx="25602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150"/>
                <a:buFont typeface="Calibri"/>
                <a:buNone/>
              </a:pPr>
              <a:r>
                <a:rPr b="0" i="0" lang="en" sz="115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Only 3,830 of 13,372 At-Risk customers who bought from this dept in Order 1 came back by Order 3 — the lowest absolute reorder rate among high-volume departments. Consumables like shampoo and toothpaste should drive repeat purchases; low reorder rates signal Instacart is losing this volume to </a:t>
              </a:r>
              <a:r>
                <a:rPr lang="en" sz="115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competitors.</a:t>
              </a:r>
              <a:endParaRPr b="0" i="0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9" name="Google Shape;109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75" y="983913"/>
            <a:ext cx="5684520" cy="3514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190475" y="468630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Reorder rate = share of At-Risk users who bought from a dept in Order 1 and again by Order 3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-7650" y="0"/>
            <a:ext cx="9159300" cy="716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  CATEGORY LEAKAGE · AT-RISK CUSTOMERS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0" y="0"/>
            <a:ext cx="9159300" cy="716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    RECOMMENDATION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50555" y="7813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targeted in-app prompt at Order 2 — timed to reorder risk</a:t>
            </a:r>
            <a:endParaRPr b="0" i="0" sz="2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50547" y="1506728"/>
            <a:ext cx="2697600" cy="2578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3B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350547" y="1506728"/>
            <a:ext cx="2697600" cy="109800"/>
          </a:xfrm>
          <a:prstGeom prst="rect">
            <a:avLst/>
          </a:prstGeom>
          <a:solidFill>
            <a:srgbClr val="43B02A"/>
          </a:solidFill>
          <a:ln cap="flat" cmpd="sng" w="12700">
            <a:solidFill>
              <a:srgbClr val="43B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460275" y="1689608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B02A"/>
              </a:buClr>
              <a:buSzPts val="900"/>
              <a:buFont typeface="Calibri"/>
              <a:buNone/>
            </a:pPr>
            <a:r>
              <a:rPr b="1" i="0" lang="en" u="none" cap="none" strike="noStrike">
                <a:solidFill>
                  <a:srgbClr val="43B02A"/>
                </a:solidFill>
                <a:latin typeface="Calibri"/>
                <a:ea typeface="Calibri"/>
                <a:cs typeface="Calibri"/>
                <a:sym typeface="Calibri"/>
              </a:rPr>
              <a:t>THE TRIGGER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60275" y="2018792"/>
            <a:ext cx="24873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E9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Customers whose days_since_prior_order exceeds the median (7 days for High-Value) after Order 1 are flagged. This identifies at-risk customers at the earliest actionable moment.</a:t>
            </a:r>
            <a:endParaRPr b="0" i="0" sz="11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3203475" y="1506728"/>
            <a:ext cx="2697600" cy="2578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3203475" y="1506728"/>
            <a:ext cx="2697600" cy="109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3313203" y="1689608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INTERVENTION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313203" y="2018792"/>
            <a:ext cx="24873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E9"/>
              </a:buClr>
              <a:buSzPts val="1150"/>
              <a:buFont typeface="Calibri"/>
              <a:buNone/>
            </a:pPr>
            <a:r>
              <a:rPr lang="en" sz="11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personalised in-app prompt at Order 2 featuring the top-dropped department from their Order 1 basket. </a:t>
            </a:r>
            <a:endParaRPr b="0" i="0" sz="11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E9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E9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Priority departments: </a:t>
            </a:r>
            <a:r>
              <a:rPr b="1" i="0" lang="en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Personal Care </a:t>
            </a:r>
            <a:r>
              <a:rPr b="0" i="0" lang="en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(lowest absolute reorder rate, 28.6%) and </a:t>
            </a:r>
            <a:r>
              <a:rPr b="1" i="0" lang="en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Alcohol </a:t>
            </a:r>
            <a:r>
              <a:rPr b="0" i="0" lang="en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(largest gap vs High-Value, 15 percentage points).</a:t>
            </a:r>
            <a:endParaRPr b="0" i="0" sz="11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6056403" y="1506728"/>
            <a:ext cx="2697600" cy="2578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6056403" y="1506728"/>
            <a:ext cx="2697600" cy="109800"/>
          </a:xfrm>
          <a:prstGeom prst="rect">
            <a:avLst/>
          </a:prstGeom>
          <a:solidFill>
            <a:srgbClr val="43B02A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6166131" y="1689608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C784"/>
              </a:buClr>
              <a:buSzPts val="900"/>
              <a:buFont typeface="Calibri"/>
              <a:buNone/>
            </a:pPr>
            <a:r>
              <a:rPr b="1" i="0" lang="en" u="none" cap="none" strike="noStrike">
                <a:solidFill>
                  <a:srgbClr val="0BAF0A"/>
                </a:solidFill>
                <a:latin typeface="Calibri"/>
                <a:ea typeface="Calibri"/>
                <a:cs typeface="Calibri"/>
                <a:sym typeface="Calibri"/>
              </a:rPr>
              <a:t>THE TEST</a:t>
            </a:r>
            <a:endParaRPr b="0" i="0" u="none" cap="none" strike="noStrike">
              <a:solidFill>
                <a:srgbClr val="0BAF0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166131" y="2018792"/>
            <a:ext cx="24873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E9"/>
              </a:buClr>
              <a:buSzPts val="1150"/>
              <a:buFont typeface="Calibri"/>
              <a:buNone/>
            </a:pPr>
            <a:r>
              <a:rPr b="0" i="0" lang="en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A/B test the prompt against a control group. </a:t>
            </a:r>
            <a:endParaRPr b="0" i="0" sz="12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E9"/>
              </a:buClr>
              <a:buSzPts val="1150"/>
              <a:buFont typeface="Calibri"/>
              <a:buNone/>
            </a:pPr>
            <a:r>
              <a:rPr b="0" i="0" lang="en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Primary metric: days to next order. Secondary: basket size at Order 3.</a:t>
            </a:r>
            <a:endParaRPr b="0" i="0" sz="12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350547" y="4249928"/>
            <a:ext cx="8458200" cy="658500"/>
          </a:xfrm>
          <a:prstGeom prst="rect">
            <a:avLst/>
          </a:prstGeom>
          <a:solidFill>
            <a:srgbClr val="43B02A">
              <a:alpha val="18040"/>
            </a:srgbClr>
          </a:solidFill>
          <a:ln cap="flat" cmpd="sng" w="12700">
            <a:solidFill>
              <a:srgbClr val="43B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505995" y="4268216"/>
            <a:ext cx="81381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" sz="13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Key findings: 2.7× revenue proxy gap</a:t>
            </a:r>
            <a:r>
              <a:rPr lang="en" sz="13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" sz="13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Biggest drop-off at Order 4→5 (11.63%)</a:t>
            </a:r>
            <a:r>
              <a:rPr lang="en" sz="13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" sz="13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Lowest reorder rate: Personal Care (28.6%)   Alcohol: largest At-Risk vs High-Value gap (15pp)  ·  Frequency problem</a:t>
            </a:r>
            <a:r>
              <a:rPr lang="en" sz="13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so </a:t>
            </a:r>
            <a:r>
              <a:rPr b="0" i="0" lang="en" sz="13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fix timing, not basket size</a:t>
            </a:r>
            <a:r>
              <a:rPr lang="en" sz="13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